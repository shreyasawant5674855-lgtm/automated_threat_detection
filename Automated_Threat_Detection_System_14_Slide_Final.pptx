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62337"/>
                </a:solidFill>
              </a:defRPr>
            </a:pPr>
            <a:r>
              <a:t>Automated Threat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88036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5A6674"/>
                </a:solidFill>
              </a:defRPr>
            </a:pPr>
            <a:r>
              <a:t>Machine Learning Based Network Threat Detection</a:t>
            </a:r>
          </a:p>
          <a:p>
            <a:pPr>
              <a:spcAft>
                <a:spcPts val="800"/>
              </a:spcAft>
              <a:defRPr sz="1500">
                <a:solidFill>
                  <a:srgbClr val="5A6674"/>
                </a:solidFill>
              </a:defRPr>
            </a:pPr>
            <a:r>
              <a:t>Shreya</a:t>
            </a:r>
          </a:p>
          <a:p>
            <a:pPr>
              <a:spcAft>
                <a:spcPts val="800"/>
              </a:spcAft>
              <a:defRPr sz="1500">
                <a:solidFill>
                  <a:srgbClr val="5A6674"/>
                </a:solidFill>
              </a:defRPr>
            </a:pPr>
            <a:r>
              <a:t>BSc Artificial Intelligence • VES College, Chembur</a:t>
            </a:r>
          </a:p>
          <a:p>
            <a:pPr>
              <a:spcAft>
                <a:spcPts val="800"/>
              </a:spcAft>
              <a:defRPr sz="1500">
                <a:solidFill>
                  <a:srgbClr val="5A6674"/>
                </a:solidFill>
              </a:defRPr>
            </a:pPr>
            <a:r>
              <a:t>Internship /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64008" cy="411480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Network Threat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29967"/>
            <a:ext cx="29718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Network traffic contains large amounts of data. Suspicious traffic can indicate possible security threats.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64008" cy="4114800"/>
          </a:xfrm>
          <a:prstGeom prst="rect">
            <a:avLst/>
          </a:prstGeom>
          <a:solidFill>
            <a:srgbClr val="26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361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Why Automate?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29967"/>
            <a:ext cx="29718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Manual monitoring can be time-consuming. Machine Learning can help classify traffic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64008" cy="4114800"/>
          </a:xfrm>
          <a:prstGeom prst="rect">
            <a:avLst/>
          </a:prstGeom>
          <a:solidFill>
            <a:srgbClr val="37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5361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Our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29967"/>
            <a:ext cx="29718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The system analyzes network traffic and classifies it as Normal Activity or a potential Threat.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62337"/>
                </a:solidFill>
              </a:defRPr>
            </a:pPr>
            <a:r>
              <a:t>• Increasing network traffic makes manual monitoring difficult.</a:t>
            </a:r>
          </a:p>
          <a:p>
            <a:pPr>
              <a:spcAft>
                <a:spcPts val="1200"/>
              </a:spcAft>
              <a:defRPr sz="2000">
                <a:solidFill>
                  <a:srgbClr val="162337"/>
                </a:solidFill>
              </a:defRPr>
            </a:pPr>
            <a:r>
              <a:t>• Suspicious traffic needs to be identified quickly.</a:t>
            </a:r>
          </a:p>
          <a:p>
            <a:pPr>
              <a:spcAft>
                <a:spcPts val="1200"/>
              </a:spcAft>
              <a:defRPr sz="2000">
                <a:solidFill>
                  <a:srgbClr val="162337"/>
                </a:solidFill>
              </a:defRPr>
            </a:pPr>
            <a:r>
              <a:t>• Traditional manual analysis requires time and effort.</a:t>
            </a:r>
          </a:p>
          <a:p>
            <a:pPr>
              <a:spcAft>
                <a:spcPts val="1200"/>
              </a:spcAft>
              <a:defRPr sz="2000">
                <a:solidFill>
                  <a:srgbClr val="162337"/>
                </a:solidFill>
              </a:defRPr>
            </a:pPr>
            <a:r>
              <a:t>• There is a need for an automated system that can analyze traffic and provide detection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64008" cy="96012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990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Develop an automated network threat detection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23444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59" y="1234440"/>
            <a:ext cx="64008" cy="960120"/>
          </a:xfrm>
          <a:prstGeom prst="rect">
            <a:avLst/>
          </a:prstGeom>
          <a:solidFill>
            <a:srgbClr val="26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3990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Use Machine Learning for threat classification.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2316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423160"/>
            <a:ext cx="64008" cy="960120"/>
          </a:xfrm>
          <a:prstGeom prst="rect">
            <a:avLst/>
          </a:prstGeom>
          <a:solidFill>
            <a:srgbClr val="37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877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Analyze network traffic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42316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423160"/>
            <a:ext cx="64008" cy="9601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25877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Provide quick detection results.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1188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611880"/>
            <a:ext cx="64008" cy="96012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7647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Store threat detection records.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61188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3611880"/>
            <a:ext cx="64008" cy="960120"/>
          </a:xfrm>
          <a:prstGeom prst="rect">
            <a:avLst/>
          </a:prstGeom>
          <a:solidFill>
            <a:srgbClr val="26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377647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Provide a simple web dashboard.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0060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800600"/>
            <a:ext cx="64008" cy="960120"/>
          </a:xfrm>
          <a:prstGeom prst="rect">
            <a:avLst/>
          </a:prstGeom>
          <a:solidFill>
            <a:srgbClr val="37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6519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Perform security and system testing.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480060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59" y="4800600"/>
            <a:ext cx="64008" cy="9601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59" y="496519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Deploy the system on a cloud platform.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7373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337"/>
                </a:solidFill>
              </a:defRPr>
            </a:pPr>
            <a:r>
              <a:t>Network Traffic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645920"/>
            <a:ext cx="17373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6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337"/>
                </a:solidFill>
              </a:defRPr>
            </a:pPr>
            <a:r>
              <a:t>Data Preprocessing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645920"/>
            <a:ext cx="17373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7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337"/>
                </a:solidFill>
              </a:defRPr>
            </a:pPr>
            <a:r>
              <a:t>Random Forest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645920"/>
            <a:ext cx="17373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337"/>
                </a:solidFill>
              </a:defRPr>
            </a:pPr>
            <a:r>
              <a:t>Threat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306324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7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337"/>
                </a:solidFill>
              </a:defRPr>
            </a:pPr>
            <a:r>
              <a:t>Normal Activity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306324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337"/>
                </a:solidFill>
              </a:defRPr>
            </a:pPr>
            <a:r>
              <a:t>Threat Detected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425196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337"/>
                </a:solidFill>
              </a:defRPr>
            </a:pPr>
            <a:r>
              <a:t>Alert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3657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6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337"/>
                </a:solidFill>
              </a:defRPr>
            </a:pPr>
            <a:r>
              <a:t>Feedback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  <a:latin typeface="Aptos Display"/>
              </a:defRPr>
            </a:pPr>
            <a:r>
              <a:t>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132588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990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92808"/>
            <a:ext cx="30175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Main programming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64008" cy="1325880"/>
          </a:xfrm>
          <a:prstGeom prst="rect">
            <a:avLst/>
          </a:prstGeom>
          <a:solidFill>
            <a:srgbClr val="26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3990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892808"/>
            <a:ext cx="30175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Data 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344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234440"/>
            <a:ext cx="64008" cy="1325880"/>
          </a:xfrm>
          <a:prstGeom prst="rect">
            <a:avLst/>
          </a:prstGeom>
          <a:solidFill>
            <a:srgbClr val="37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3990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Scikit-learn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892808"/>
            <a:ext cx="30175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Machine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346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834640"/>
            <a:ext cx="64008" cy="132588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992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93008"/>
            <a:ext cx="30175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Threat classification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8346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2834640"/>
            <a:ext cx="64008" cy="1325880"/>
          </a:xfrm>
          <a:prstGeom prst="rect">
            <a:avLst/>
          </a:prstGeom>
          <a:solidFill>
            <a:srgbClr val="26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9992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Flask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493008"/>
            <a:ext cx="30175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Backend /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8346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2834640"/>
            <a:ext cx="64008" cy="1325880"/>
          </a:xfrm>
          <a:prstGeom prst="rect">
            <a:avLst/>
          </a:prstGeom>
          <a:solidFill>
            <a:srgbClr val="37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9992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SQLite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93008"/>
            <a:ext cx="30175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Data storage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348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434840"/>
            <a:ext cx="64008" cy="132588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59943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HTML/CSS/JavaScript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093207"/>
            <a:ext cx="30175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Dashboard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44348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34840" y="4434840"/>
            <a:ext cx="64008" cy="1325880"/>
          </a:xfrm>
          <a:prstGeom prst="rect">
            <a:avLst/>
          </a:prstGeom>
          <a:solidFill>
            <a:srgbClr val="26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459943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GitHub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5093207"/>
            <a:ext cx="30175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Version control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43484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4434840"/>
            <a:ext cx="64008" cy="1325880"/>
          </a:xfrm>
          <a:prstGeom prst="rect">
            <a:avLst/>
          </a:prstGeom>
          <a:solidFill>
            <a:srgbClr val="37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459943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Render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5093207"/>
            <a:ext cx="30175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Cloud 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  <a:latin typeface="Aptos Display"/>
              </a:defRPr>
            </a:pPr>
            <a:r>
              <a:t>Machine Learning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429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64008" cy="411480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Random Forest 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9967"/>
            <a:ext cx="3017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A machine-learning model trained to learn patterns in the network traffic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29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64008" cy="4114800"/>
          </a:xfrm>
          <a:prstGeom prst="rect">
            <a:avLst/>
          </a:prstGeom>
          <a:solidFill>
            <a:srgbClr val="26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361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29967"/>
            <a:ext cx="3017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Bytes</a:t>
            </a:r>
            <a:br/>
            <a:br/>
            <a:r>
              <a:t>Packets</a:t>
            </a:r>
            <a:br/>
            <a:br/>
            <a:r>
              <a:t>These traffic features are provided to the trained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429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371600"/>
            <a:ext cx="64008" cy="4114800"/>
          </a:xfrm>
          <a:prstGeom prst="rect">
            <a:avLst/>
          </a:prstGeom>
          <a:solidFill>
            <a:srgbClr val="37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361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29967"/>
            <a:ext cx="3017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Normal Activity</a:t>
            </a:r>
            <a:br/>
            <a:br/>
            <a:r>
              <a:t>OR</a:t>
            </a:r>
            <a:br/>
            <a:br/>
            <a:r>
              <a:t>Threat Detected</a:t>
            </a:r>
            <a:br/>
            <a:br/>
            <a:r>
              <a:t>Model saved as a .pkl file.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  <a:latin typeface="Aptos Display"/>
              </a:defRPr>
            </a:pPr>
            <a:r>
              <a:t>System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64008" cy="114300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Automated threat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28016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1280160"/>
            <a:ext cx="64008" cy="1143000"/>
          </a:xfrm>
          <a:prstGeom prst="rect">
            <a:avLst/>
          </a:prstGeom>
          <a:solidFill>
            <a:srgbClr val="26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4447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Machine Learning-based classification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28016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1280160"/>
            <a:ext cx="64008" cy="1143000"/>
          </a:xfrm>
          <a:prstGeom prst="rect">
            <a:avLst/>
          </a:prstGeom>
          <a:solidFill>
            <a:srgbClr val="37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4447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Real-time API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974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697480"/>
            <a:ext cx="64008" cy="114300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62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Web-based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26974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697480"/>
            <a:ext cx="64008" cy="1143000"/>
          </a:xfrm>
          <a:prstGeom prst="rect">
            <a:avLst/>
          </a:prstGeom>
          <a:solidFill>
            <a:srgbClr val="26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862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Threat logging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26974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2697480"/>
            <a:ext cx="64008" cy="1143000"/>
          </a:xfrm>
          <a:prstGeom prst="rect">
            <a:avLst/>
          </a:prstGeom>
          <a:solidFill>
            <a:srgbClr val="37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862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Input 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1480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114800"/>
            <a:ext cx="64008" cy="114300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79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Security testing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411480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114800"/>
            <a:ext cx="64008" cy="1143000"/>
          </a:xfrm>
          <a:prstGeom prst="rect">
            <a:avLst/>
          </a:prstGeom>
          <a:solidFill>
            <a:srgbClr val="26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4279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Feedback loop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411480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20" y="4114800"/>
            <a:ext cx="64008" cy="1143000"/>
          </a:xfrm>
          <a:prstGeom prst="rect">
            <a:avLst/>
          </a:prstGeom>
          <a:solidFill>
            <a:srgbClr val="37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4279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Cloud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  <a:latin typeface="Aptos Display"/>
              </a:defRPr>
            </a:pPr>
            <a:r>
              <a:t>Security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64008" cy="164592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Tested individual components.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2801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280160"/>
            <a:ext cx="64008" cy="1645920"/>
          </a:xfrm>
          <a:prstGeom prst="rect">
            <a:avLst/>
          </a:prstGeom>
          <a:solidFill>
            <a:srgbClr val="26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4447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Integration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938528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Checked communication between model, API, database and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2801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280160"/>
            <a:ext cx="64008" cy="16459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4447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Vulnerability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938528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Tested invalid and unexpected inputs.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9184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291840"/>
            <a:ext cx="64008" cy="164592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564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Penetration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Tested empty, text, negative and very large inputs.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29184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3291840"/>
            <a:ext cx="64008" cy="1645920"/>
          </a:xfrm>
          <a:prstGeom prst="rect">
            <a:avLst/>
          </a:prstGeom>
          <a:solidFill>
            <a:srgbClr val="269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34564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Production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950208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Tested the deployed API on Render.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29184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3291840"/>
            <a:ext cx="64008" cy="16459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4564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Input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950208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Rejected invalid values with appropriate responses.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2337"/>
                </a:solidFill>
              </a:defRPr>
            </a:pPr>
            <a:r>
              <a:t>Testing result: 12 automated tests passed successfully*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9788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6674"/>
                </a:solidFill>
              </a:defRPr>
            </a:pPr>
            <a:r>
              <a:t>*Keep this only if it matches your actual test run.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  <a:latin typeface="Aptos Display"/>
              </a:defRPr>
            </a:pPr>
            <a:r>
              <a:t>Dashboard &amp;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3154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64008" cy="429768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1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Demo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27432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1. Open dashboard</a:t>
            </a:r>
            <a:br/>
            <a:r>
              <a:t>2. Enter network bytes</a:t>
            </a:r>
            <a:br/>
            <a:r>
              <a:t>3. Enter packet count</a:t>
            </a:r>
            <a:br/>
            <a:r>
              <a:t>4. Click Check Traffic</a:t>
            </a:r>
            <a:br/>
            <a:r>
              <a:t>5. View prediction</a:t>
            </a:r>
            <a:br/>
            <a:r>
              <a:t>6. Check logged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17320"/>
            <a:ext cx="68580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26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337"/>
                </a:solidFill>
              </a:defRPr>
            </a:pPr>
            <a:r>
              <a:t>Replace this area with your actual dashboard screenshot.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  <a:latin typeface="Aptos Display"/>
              </a:defRPr>
            </a:pPr>
            <a:r>
              <a:t>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337"/>
                </a:solidFill>
              </a:defRPr>
            </a:pPr>
            <a:r>
              <a:t>GitHub 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828800"/>
            <a:ext cx="2011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6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337"/>
                </a:solidFill>
              </a:defRPr>
            </a:pPr>
            <a:r>
              <a:t>Render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2011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7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337"/>
                </a:solidFill>
              </a:defRPr>
            </a:pPr>
            <a:r>
              <a:t>Flask + Gunicorn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828800"/>
            <a:ext cx="2011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337"/>
                </a:solidFill>
              </a:defRPr>
            </a:pPr>
            <a:r>
              <a:t>Live API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62337"/>
                </a:solidFill>
              </a:defRPr>
            </a:pPr>
            <a:r>
              <a:t>• Source code stored on GitHub.</a:t>
            </a:r>
          </a:p>
          <a:p>
            <a:pPr>
              <a:spcAft>
                <a:spcPts val="1200"/>
              </a:spcAft>
              <a:defRPr sz="1700">
                <a:solidFill>
                  <a:srgbClr val="162337"/>
                </a:solidFill>
              </a:defRPr>
            </a:pPr>
            <a:r>
              <a:t>• requirements.txt configured for deployment.</a:t>
            </a:r>
          </a:p>
          <a:p>
            <a:pPr>
              <a:spcAft>
                <a:spcPts val="1200"/>
              </a:spcAft>
              <a:defRPr sz="1700">
                <a:solidFill>
                  <a:srgbClr val="162337"/>
                </a:solidFill>
              </a:defRPr>
            </a:pPr>
            <a:r>
              <a:t>• Gunicorn used as production server.</a:t>
            </a:r>
          </a:p>
          <a:p>
            <a:pPr>
              <a:spcAft>
                <a:spcPts val="1200"/>
              </a:spcAft>
              <a:defRPr sz="1700">
                <a:solidFill>
                  <a:srgbClr val="162337"/>
                </a:solidFill>
              </a:defRPr>
            </a:pPr>
            <a:r>
              <a:t>• Flask backend deployed on Render.</a:t>
            </a:r>
          </a:p>
          <a:p>
            <a:pPr>
              <a:spcAft>
                <a:spcPts val="1200"/>
              </a:spcAft>
              <a:defRPr sz="1700">
                <a:solidFill>
                  <a:srgbClr val="162337"/>
                </a:solidFill>
              </a:defRPr>
            </a:pPr>
            <a:r>
              <a:t>• Production API tested with sample requests.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  <a:latin typeface="Aptos Display"/>
              </a:defRPr>
            </a:pPr>
            <a:r>
              <a:t>Results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64008" cy="438912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9047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84248"/>
            <a:ext cx="480060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• Automated threat detection system developed.</a:t>
            </a:r>
            <a:br/>
            <a:r>
              <a:t>• ML model integrated with the backend.</a:t>
            </a:r>
            <a:br/>
            <a:r>
              <a:t>• Dashboard connected to the API.</a:t>
            </a:r>
            <a:br/>
            <a:r>
              <a:t>• Input validation and security testing implemented.</a:t>
            </a:r>
            <a:br/>
            <a:r>
              <a:t>• System deployed on Render.</a:t>
            </a:r>
            <a:br/>
            <a:r>
              <a:t>• Detection requests tested successfully.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64008" cy="4389120"/>
          </a:xfrm>
          <a:prstGeom prst="rect">
            <a:avLst/>
          </a:prstGeom>
          <a:solidFill>
            <a:srgbClr val="37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9047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337"/>
                </a:solidFill>
              </a:defRPr>
            </a:pPr>
            <a: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84248"/>
            <a:ext cx="480060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674"/>
                </a:solidFill>
              </a:defRPr>
            </a:pPr>
            <a:r>
              <a:t>The project demonstrates how Machine Learning can be integrated with a web-based system to automate basic network threat detection.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62337"/>
                </a:solidFill>
              </a:defRPr>
            </a:pPr>
            <a:r>
              <a:t>• Use larger real-world network traffic datasets.</a:t>
            </a:r>
          </a:p>
          <a:p>
            <a:pPr>
              <a:spcAft>
                <a:spcPts val="1200"/>
              </a:spcAft>
              <a:defRPr sz="1800">
                <a:solidFill>
                  <a:srgbClr val="162337"/>
                </a:solidFill>
              </a:defRPr>
            </a:pPr>
            <a:r>
              <a:t>• Add more network traffic features.</a:t>
            </a:r>
          </a:p>
          <a:p>
            <a:pPr>
              <a:spcAft>
                <a:spcPts val="1200"/>
              </a:spcAft>
              <a:defRPr sz="1800">
                <a:solidFill>
                  <a:srgbClr val="162337"/>
                </a:solidFill>
              </a:defRPr>
            </a:pPr>
            <a:r>
              <a:t>• Improve model training and evaluation.</a:t>
            </a:r>
          </a:p>
          <a:p>
            <a:pPr>
              <a:spcAft>
                <a:spcPts val="1200"/>
              </a:spcAft>
              <a:defRPr sz="1800">
                <a:solidFill>
                  <a:srgbClr val="162337"/>
                </a:solidFill>
              </a:defRPr>
            </a:pPr>
            <a:r>
              <a:t>• Add stronger user authentication.</a:t>
            </a:r>
          </a:p>
          <a:p>
            <a:pPr>
              <a:spcAft>
                <a:spcPts val="1200"/>
              </a:spcAft>
              <a:defRPr sz="1800">
                <a:solidFill>
                  <a:srgbClr val="162337"/>
                </a:solidFill>
              </a:defRPr>
            </a:pPr>
            <a:r>
              <a:t>• Use a persistent cloud database.</a:t>
            </a:r>
          </a:p>
          <a:p>
            <a:pPr>
              <a:spcAft>
                <a:spcPts val="1200"/>
              </a:spcAft>
              <a:defRPr sz="1800">
                <a:solidFill>
                  <a:srgbClr val="162337"/>
                </a:solidFill>
              </a:defRPr>
            </a:pPr>
            <a:r>
              <a:t>• Improve the dashboard with graphs and threat statistics.</a:t>
            </a:r>
          </a:p>
          <a:p>
            <a:pPr>
              <a:spcAft>
                <a:spcPts val="1200"/>
              </a:spcAft>
              <a:defRPr sz="1800">
                <a:solidFill>
                  <a:srgbClr val="162337"/>
                </a:solidFill>
              </a:defRPr>
            </a:pPr>
            <a:r>
              <a:t>• Add more advanced threat detection techniques.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62337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A6674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